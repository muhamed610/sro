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</ns0:sldIdLst>
  <ns0:sldSz cx="12192000" cy="6858000" type="screen4x3"/>
  <ns0:notesSz cx="6858000" cy="9144000"/>
  <ns0:embeddedFontLst>
    <ns0:embeddedFont>
      <ns0:font typeface="Plus Jakarta Sans"/>
      <ns0:bold ns1:id="rIdFont15"/>
      <ns0:regular ns1:id="rIdFont16"/>
    </ns0:embeddedFont>
    <ns0:embeddedFont>
      <ns0:font typeface="Orbitron"/>
      <ns0:bold ns1:id="rIdFont17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Font15" Type="http://schemas.openxmlformats.org/officeDocument/2006/relationships/font" Target="fonts/7786d7d4-d7e7-48ab-8630-93a0db4398c7.fntdata" /><ns0:Relationship Id="rIdFont16" Type="http://schemas.openxmlformats.org/officeDocument/2006/relationships/font" Target="fonts/5fb82519-27e8-4604-9911-912ff87cd116.fntdata" /><ns0:Relationship Id="rIdFont17" Type="http://schemas.openxmlformats.org/officeDocument/2006/relationships/font" Target="fonts/c5c827da-79c9-4573-b12f-d9cd94259a6a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1972567"/>
            <a:ext cx="4452491" cy="323850"/>
          </a:xfrm>
          <a:prstGeom prst="roundRect">
            <a:avLst>
              <a:gd name="adj" fmla="val 50000"/>
            </a:avLst>
          </a:prstGeom>
          <a:solidFill>
            <a:srgbClr val="27150D"/>
          </a:solidFill>
          <a:ln w="9525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4123283"/>
            <a:ext cx="762000" cy="381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2525017"/>
            <a:ext cx="11251406" cy="5695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84"/>
              </a:lnSpc>
              <a:defRPr/>
            </a:pPr>
            <a:r>
              <a:rPr b="1" sz="3900" i="0" u="none">
                <a:solidFill>
                  <a:srgbClr val="FFFFFF"/>
                </a:solidFill>
                <a:latin typeface="Orbitron"/>
              </a:rPr>
              <a:t>Система Контроля Посещаемости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285083"/>
            <a:ext cx="6286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CBD5E1"/>
                </a:solidFill>
                <a:latin typeface="Plus Jakarta Sans"/>
              </a:rPr>
              <a:t>Автоматизация учета студентов, анализ групп риска и гибкие политики валидации на Python.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2975" y="2058292"/>
            <a:ext cx="511317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F8833"/>
                </a:solidFill>
                <a:latin typeface="Orbitron"/>
              </a:rPr>
              <a:t>ПАРАДИГМЫ ПРОГРАММИРОВАНИЯ • МИНИ-ПРОЕКТ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428083"/>
            <a:ext cx="1143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Выполнил: </a:t>
            </a:r>
            <a:r>
              <a:rPr b="1" sz="1350" i="0" u="none">
                <a:solidFill>
                  <a:srgbClr val="FF8833"/>
                </a:solidFill>
                <a:latin typeface="Plus Jakarta Sans"/>
              </a:rPr>
              <a:t>Абдрашитов Мухамед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713833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Алматинский Технологический Университет • Кафедра Информационных Систем (2026)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086100"/>
            <a:ext cx="3454449" cy="1866900"/>
          </a:xfrm>
          <a:prstGeom prst="roundRect">
            <a:avLst>
              <a:gd name="adj" fmla="val 8163"/>
            </a:avLst>
          </a:prstGeom>
          <a:solidFill>
            <a:srgbClr val="131520"/>
          </a:solidFill>
          <a:ln w="9525">
            <a:solidFill>
              <a:srgbClr val="4923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3086100"/>
            <a:ext cx="3454449" cy="1866900"/>
          </a:xfrm>
          <a:prstGeom prst="roundRect">
            <a:avLst>
              <a:gd name="adj" fmla="val 8163"/>
            </a:avLst>
          </a:prstGeom>
          <a:solidFill>
            <a:srgbClr val="131520"/>
          </a:solidFill>
          <a:ln w="9525">
            <a:solidFill>
              <a:srgbClr val="4923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3086100"/>
            <a:ext cx="3454449" cy="1866900"/>
          </a:xfrm>
          <a:prstGeom prst="roundRect">
            <a:avLst>
              <a:gd name="adj" fmla="val 8163"/>
            </a:avLst>
          </a:prstGeom>
          <a:solidFill>
            <a:srgbClr val="131520"/>
          </a:solidFill>
          <a:ln w="9525">
            <a:solidFill>
              <a:srgbClr val="4923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3438525"/>
            <a:ext cx="2901999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074" y="3438525"/>
            <a:ext cx="2901999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124" y="3438525"/>
            <a:ext cx="2901999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1905000"/>
            <a:ext cx="115062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FFFFF"/>
                </a:solidFill>
                <a:latin typeface="Orbitron"/>
              </a:rPr>
              <a:t>Цели и Задачи Проекта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00300"/>
            <a:ext cx="11506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F8833"/>
                </a:solidFill>
                <a:latin typeface="Plus Jakarta Sans"/>
              </a:rPr>
              <a:t>Ключевые функциональные возможности академического мониторинга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3895725"/>
            <a:ext cx="380887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Plus Jakarta Sans"/>
              </a:rPr>
              <a:t>Учет Статусов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4238625"/>
            <a:ext cx="299724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Plus Jakarta Sans"/>
              </a:rPr>
              <a:t>Фиксация присутствия, опозданий и уважительных причин.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074" y="3895725"/>
            <a:ext cx="380887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Plus Jakarta Sans"/>
              </a:rPr>
              <a:t>Расчет Посещаемости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074" y="4238625"/>
            <a:ext cx="299724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Plus Jakarta Sans"/>
              </a:rPr>
              <a:t>Автоматическое вычисление процента успеваемости.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8124" y="3895725"/>
            <a:ext cx="380887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Plus Jakarta Sans"/>
              </a:rPr>
              <a:t>Группы Риска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8124" y="4238625"/>
            <a:ext cx="299724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Plus Jakarta Sans"/>
              </a:rPr>
              <a:t>Фильтрация студентов с превышением лимита пропусков.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414712"/>
            <a:ext cx="2562225" cy="1209675"/>
          </a:xfrm>
          <a:prstGeom prst="roundRect">
            <a:avLst>
              <a:gd name="adj" fmla="val 11023"/>
            </a:avLst>
          </a:prstGeom>
          <a:solidFill>
            <a:srgbClr val="131520"/>
          </a:solidFill>
          <a:ln w="9525">
            <a:solidFill>
              <a:srgbClr val="2D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38525" y="3414712"/>
            <a:ext cx="2562225" cy="1209675"/>
          </a:xfrm>
          <a:prstGeom prst="roundRect">
            <a:avLst>
              <a:gd name="adj" fmla="val 11023"/>
            </a:avLst>
          </a:prstGeom>
          <a:solidFill>
            <a:srgbClr val="131520"/>
          </a:solidFill>
          <a:ln w="9525">
            <a:solidFill>
              <a:srgbClr val="2D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414712"/>
            <a:ext cx="2562225" cy="1209675"/>
          </a:xfrm>
          <a:prstGeom prst="roundRect">
            <a:avLst>
              <a:gd name="adj" fmla="val 11023"/>
            </a:avLst>
          </a:prstGeom>
          <a:solidFill>
            <a:srgbClr val="131520"/>
          </a:solidFill>
          <a:ln w="9525">
            <a:solidFill>
              <a:srgbClr val="2D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43975" y="3414712"/>
            <a:ext cx="2562225" cy="1209675"/>
          </a:xfrm>
          <a:prstGeom prst="roundRect">
            <a:avLst>
              <a:gd name="adj" fmla="val 11023"/>
            </a:avLst>
          </a:prstGeom>
          <a:solidFill>
            <a:srgbClr val="131520"/>
          </a:solidFill>
          <a:ln w="9525">
            <a:solidFill>
              <a:srgbClr val="2D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33612"/>
            <a:ext cx="115062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FFFFF"/>
                </a:solidFill>
                <a:latin typeface="Orbitron"/>
              </a:rPr>
              <a:t>Модульная Архитектура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28912"/>
            <a:ext cx="11506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F8833"/>
                </a:solidFill>
                <a:latin typeface="Plus Jakarta Sans"/>
              </a:rPr>
              <a:t>Разделение ответственности по специализированным исходным файлам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3690937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F6600"/>
                </a:solidFill>
                <a:latin typeface="Orbitron"/>
              </a:rPr>
              <a:t>models.py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3986212"/>
            <a:ext cx="22193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Plus Jakarta Sans"/>
              </a:rPr>
              <a:t>Классы данных и интерфейсы политик.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690937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F6600"/>
                </a:solidFill>
                <a:latin typeface="Orbitron"/>
              </a:rPr>
              <a:t>logic.py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986212"/>
            <a:ext cx="22193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Plus Jakarta Sans"/>
              </a:rPr>
              <a:t>Процедурные расчеты и чистые функции.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0325" y="3690937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F6600"/>
                </a:solidFill>
                <a:latin typeface="Orbitron"/>
              </a:rPr>
              <a:t>main.py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0325" y="3986212"/>
            <a:ext cx="22193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Plus Jakarta Sans"/>
              </a:rPr>
              <a:t>Интерактивное консольное меню и логика.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63050" y="3690937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F6600"/>
                </a:solidFill>
                <a:latin typeface="Orbitron"/>
              </a:rPr>
              <a:t>test_app.py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3050" y="3986212"/>
            <a:ext cx="22193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Plus Jakarta Sans"/>
              </a:rPr>
              <a:t>Набор авто-тестов функций и методов.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248025"/>
            <a:ext cx="5257800" cy="1543050"/>
          </a:xfrm>
          <a:prstGeom prst="roundRect">
            <a:avLst>
              <a:gd name="adj" fmla="val 9876"/>
            </a:avLst>
          </a:prstGeom>
          <a:solidFill>
            <a:srgbClr val="131520"/>
          </a:solidFill>
          <a:ln w="9525">
            <a:solidFill>
              <a:srgbClr val="4923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243262"/>
            <a:ext cx="5257800" cy="1552575"/>
          </a:xfrm>
          <a:prstGeom prst="roundRect">
            <a:avLst>
              <a:gd name="adj" fmla="val 9815"/>
            </a:avLst>
          </a:prstGeom>
          <a:solidFill>
            <a:srgbClr val="131520"/>
          </a:solidFill>
          <a:ln w="9525">
            <a:solidFill>
              <a:srgbClr val="4923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62162"/>
            <a:ext cx="115062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FFFFF"/>
                </a:solidFill>
                <a:latin typeface="Orbitron"/>
              </a:rPr>
              <a:t>Императивный и Процедурный Подходы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57462"/>
            <a:ext cx="11506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F8833"/>
                </a:solidFill>
                <a:latin typeface="Plus Jakarta Sans"/>
              </a:rPr>
              <a:t>Пошаговая обработка состояний и функциональная декомпозиция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8225" y="3600450"/>
            <a:ext cx="597574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Plus Jakarta Sans"/>
              </a:rPr>
              <a:t>Императивная Обработка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225" y="3981450"/>
            <a:ext cx="5691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Plus Jakarta Sans"/>
              </a:rPr>
              <a:t>Использование изменяемых словарей и явных циклов.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4257675"/>
            <a:ext cx="5691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Plus Jakarta Sans"/>
              </a:rPr>
              <a:t>Алгоритмический обход записей с условными проверками.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595687"/>
            <a:ext cx="55911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Plus Jakarta Sans"/>
              </a:rPr>
              <a:t>Процедурный Подход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3976687"/>
            <a:ext cx="55911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Plus Jakarta Sans"/>
              </a:rPr>
              <a:t>Декомпозиция на независимые функции с параметрами.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825" y="4252912"/>
            <a:ext cx="55911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Plus Jakarta Sans"/>
              </a:rPr>
              <a:t>Чистая функция: </a:t>
            </a:r>
            <a:r>
              <a:rPr b="0" sz="1125" i="0" u="none">
                <a:solidFill>
                  <a:srgbClr val="FF8833"/>
                </a:solidFill>
                <a:latin typeface="Plus Jakarta Sans"/>
              </a:rPr>
              <a:t>calculate_attendance_percentage()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238500"/>
            <a:ext cx="5257800" cy="1562100"/>
          </a:xfrm>
          <a:prstGeom prst="roundRect">
            <a:avLst>
              <a:gd name="adj" fmla="val 9756"/>
            </a:avLst>
          </a:prstGeom>
          <a:solidFill>
            <a:srgbClr val="131520"/>
          </a:solidFill>
          <a:ln w="9525">
            <a:solidFill>
              <a:srgbClr val="4923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233737"/>
            <a:ext cx="5257800" cy="1571625"/>
          </a:xfrm>
          <a:prstGeom prst="roundRect">
            <a:avLst>
              <a:gd name="adj" fmla="val 9696"/>
            </a:avLst>
          </a:prstGeom>
          <a:solidFill>
            <a:srgbClr val="131520"/>
          </a:solidFill>
          <a:ln w="9525">
            <a:solidFill>
              <a:srgbClr val="4923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52637"/>
            <a:ext cx="115062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FFFFF"/>
                </a:solidFill>
                <a:latin typeface="Orbitron"/>
              </a:rPr>
              <a:t>Объектно-Ориентированное Проектирование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47937"/>
            <a:ext cx="11506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F8833"/>
                </a:solidFill>
                <a:latin typeface="Plus Jakarta Sans"/>
              </a:rPr>
              <a:t>Инкапсуляция структур данных и предметной логики в классы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8225" y="3590925"/>
            <a:ext cx="597574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6600"/>
                </a:solidFill>
                <a:latin typeface="Orbitron"/>
              </a:rPr>
              <a:t>Класс Student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225" y="3990975"/>
            <a:ext cx="5691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Plus Jakarta Sans"/>
              </a:rPr>
              <a:t>Моделирует отдельного студента университета.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4267200"/>
            <a:ext cx="5691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Plus Jakarta Sans"/>
              </a:rPr>
              <a:t>Хранит уникальный ID и имя с защищенными полями.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586162"/>
            <a:ext cx="55911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6600"/>
                </a:solidFill>
                <a:latin typeface="Orbitron"/>
              </a:rPr>
              <a:t>Класс AttendanceJournal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3986212"/>
            <a:ext cx="55911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Plus Jakarta Sans"/>
              </a:rPr>
              <a:t>Инкапсулирует историю посещений (</a:t>
            </a:r>
            <a:r>
              <a:rPr b="0" sz="1125" i="0" u="none">
                <a:solidFill>
                  <a:srgbClr val="FF8833"/>
                </a:solidFill>
                <a:latin typeface="Plus Jakarta Sans"/>
              </a:rPr>
              <a:t>_records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825" y="4271962"/>
            <a:ext cx="55911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Plus Jakarta Sans"/>
              </a:rPr>
              <a:t>Предоставляет методы для добавления и изменения данных.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386137"/>
            <a:ext cx="5257800" cy="1266825"/>
          </a:xfrm>
          <a:prstGeom prst="roundRect">
            <a:avLst>
              <a:gd name="adj" fmla="val 12030"/>
            </a:avLst>
          </a:prstGeom>
          <a:solidFill>
            <a:srgbClr val="131520"/>
          </a:solidFill>
          <a:ln w="9525">
            <a:solidFill>
              <a:srgbClr val="2D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386137"/>
            <a:ext cx="5257800" cy="1266825"/>
          </a:xfrm>
          <a:prstGeom prst="roundRect">
            <a:avLst>
              <a:gd name="adj" fmla="val 12030"/>
            </a:avLst>
          </a:prstGeom>
          <a:solidFill>
            <a:srgbClr val="131520"/>
          </a:solidFill>
          <a:ln w="9525">
            <a:solidFill>
              <a:srgbClr val="2D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05037"/>
            <a:ext cx="115062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FFFFF"/>
                </a:solidFill>
                <a:latin typeface="Orbitron"/>
              </a:rPr>
              <a:t>Полиморфные Политики Учета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00337"/>
            <a:ext cx="11506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F8833"/>
                </a:solidFill>
                <a:latin typeface="Plus Jakarta Sans"/>
              </a:rPr>
              <a:t>Абстрактный базовый интерфейс со взаимозаменяемыми стратегиями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8225" y="3738562"/>
            <a:ext cx="597574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Plus Jakarta Sans"/>
              </a:rPr>
              <a:t>StandardPolicy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225" y="4119562"/>
            <a:ext cx="5691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Plus Jakarta Sans"/>
              </a:rPr>
              <a:t>Строгий учет порогового лимита пропущенных занятий.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3738562"/>
            <a:ext cx="55911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Plus Jakarta Sans"/>
              </a:rPr>
              <a:t>LenientPolicy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4119562"/>
            <a:ext cx="55911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Plus Jakarta Sans"/>
              </a:rPr>
              <a:t>Гибкая система штрафов с учетом опозданий (0.5 балла).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300412"/>
            <a:ext cx="5257800" cy="1438275"/>
          </a:xfrm>
          <a:prstGeom prst="roundRect">
            <a:avLst>
              <a:gd name="adj" fmla="val 10596"/>
            </a:avLst>
          </a:prstGeom>
          <a:solidFill>
            <a:srgbClr val="131520"/>
          </a:solidFill>
          <a:ln w="9525">
            <a:solidFill>
              <a:srgbClr val="4923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300412"/>
            <a:ext cx="5257800" cy="1438275"/>
          </a:xfrm>
          <a:prstGeom prst="roundRect">
            <a:avLst>
              <a:gd name="adj" fmla="val 10596"/>
            </a:avLst>
          </a:prstGeom>
          <a:solidFill>
            <a:srgbClr val="131520"/>
          </a:solidFill>
          <a:ln w="9525">
            <a:solidFill>
              <a:srgbClr val="4923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119312"/>
            <a:ext cx="115062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FFFFF"/>
                </a:solidFill>
                <a:latin typeface="Orbitron"/>
              </a:rPr>
              <a:t>Функциональная Парадигма и Генераторы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14612"/>
            <a:ext cx="11506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F8833"/>
                </a:solidFill>
                <a:latin typeface="Plus Jakarta Sans"/>
              </a:rPr>
              <a:t>Анализ данных без побочных эффектов и ленивые вычисления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8225" y="3652837"/>
            <a:ext cx="597574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6600"/>
                </a:solidFill>
                <a:latin typeface="Plus Jakarta Sans"/>
              </a:rPr>
              <a:t>Чистые Функции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225" y="4014787"/>
            <a:ext cx="464820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F8833"/>
                </a:solidFill>
                <a:latin typeface="Plus Jakarta Sans"/>
              </a:rPr>
              <a:t>filter_risk_group()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фильтрует коллекции без изменения оригинала.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3652837"/>
            <a:ext cx="55911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6600"/>
                </a:solidFill>
                <a:latin typeface="Plus Jakarta Sans"/>
              </a:rPr>
              <a:t>Ленивые Генераторы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4014787"/>
            <a:ext cx="464820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F8833"/>
                </a:solidFill>
                <a:latin typeface="Plus Jakarta Sans"/>
              </a:rPr>
              <a:t>get_attendance_report_generator()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поточно формирует строки отчета.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489995"/>
            <a:ext cx="762000" cy="381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329904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6600"/>
                </a:solidFill>
                <a:latin typeface="Orbitron"/>
              </a:rPr>
              <a:t>ТЕСТИРОВАНИЕ И ИТОГИ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644229"/>
            <a:ext cx="11430000" cy="479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79"/>
              </a:lnSpc>
              <a:defRPr/>
            </a:pPr>
            <a:r>
              <a:rPr b="1" sz="3150" i="0" u="none">
                <a:solidFill>
                  <a:srgbClr val="FFFFFF"/>
                </a:solidFill>
                <a:latin typeface="Orbitron"/>
              </a:rPr>
              <a:t>Успешная Интеграция и 12 Тестов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352800"/>
            <a:ext cx="7715250" cy="832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Проведено полное автоматизированное юнит-тестирование (</a:t>
            </a:r>
            <a:r>
              <a:rPr b="0" sz="1350" i="0" u="none">
                <a:solidFill>
                  <a:srgbClr val="FF8833"/>
                </a:solidFill>
                <a:latin typeface="Plus Jakarta Sans"/>
              </a:rPr>
              <a:t>unittest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) нормальных, граничных и ошибочных сценариев. Все парадигмы программирования успешно объединены в единую архитектуру.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